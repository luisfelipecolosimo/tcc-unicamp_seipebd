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2" r:id="rId3"/>
    <p:sldId id="25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80" r:id="rId17"/>
    <p:sldId id="291" r:id="rId18"/>
  </p:sldIdLst>
  <p:sldSz cx="12192000" cy="6858000"/>
  <p:notesSz cx="6858000" cy="9144000"/>
  <p:embeddedFontLst>
    <p:embeddedFont>
      <p:font typeface="Nunito Sans" charset="0"/>
      <p:regular r:id="rId24"/>
      <p:bold r:id="rId25"/>
      <p:italic r:id="rId26"/>
      <p:boldItalic r:id="rId27"/>
    </p:embeddedFont>
    <p:embeddedFont>
      <p:font typeface="Nunito Sans Light" charset="0"/>
      <p:regular r:id="rId28"/>
      <p:italic r:id="rId29"/>
    </p:embeddedFont>
    <p:embeddedFont>
      <p:font typeface="Nunito Sans ExtraBold" charset="0"/>
      <p:bold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BBC1"/>
    <a:srgbClr val="A5CDD1"/>
    <a:srgbClr val="D1E5EA"/>
    <a:srgbClr val="F8FAF9"/>
    <a:srgbClr val="E6E6E6"/>
    <a:srgbClr val="4472C4"/>
    <a:srgbClr val="4C47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291" autoAdjust="0"/>
  </p:normalViewPr>
  <p:slideViewPr>
    <p:cSldViewPr snapToGrid="0" showGuides="1">
      <p:cViewPr>
        <p:scale>
          <a:sx n="50" d="100"/>
          <a:sy n="50" d="100"/>
        </p:scale>
        <p:origin x="1664" y="9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5.xml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443EBE89-AAC7-48B1-92F5-A99283D773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7CC1DC1D-7B54-4897-BDCA-22D6E8D80F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unito Sans Light" charset="0"/>
          <a:ea typeface="Nunito Sans Light" charset="0"/>
          <a:cs typeface="Nunito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17" name="矩形 1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19" name="图片 1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578100" y="-2241550"/>
            <a:ext cx="6845300" cy="117221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1582421" y="2459184"/>
            <a:ext cx="883666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4800">
                <a:sym typeface="+mn-ea"/>
              </a:rPr>
              <a:t>SEIPEBD </a:t>
            </a:r>
            <a:endParaRPr sz="4800">
              <a:sym typeface="+mn-ea"/>
            </a:endParaRPr>
          </a:p>
          <a:p>
            <a:pPr algn="ctr"/>
            <a:r>
              <a:rPr sz="4800">
                <a:sym typeface="+mn-ea"/>
              </a:rPr>
              <a:t> Sistema de Ensino Interativo </a:t>
            </a:r>
            <a:endParaRPr sz="4800">
              <a:sym typeface="+mn-ea"/>
            </a:endParaRPr>
          </a:p>
          <a:p>
            <a:pPr algn="ctr"/>
            <a:r>
              <a:rPr sz="4800">
                <a:sym typeface="+mn-ea"/>
              </a:rPr>
              <a:t>de Práticas em Banco de Dados</a:t>
            </a:r>
            <a:endParaRPr lang="zh-CN" altLang="en-US" sz="4800" spc="-300" dirty="0">
              <a:solidFill>
                <a:schemeClr val="tx1">
                  <a:lumMod val="50000"/>
                  <a:lumOff val="50000"/>
                </a:schemeClr>
              </a:solidFill>
              <a:latin typeface="Nunito Sans ExtraBold" charset="0"/>
              <a:ea typeface="Nunito Sans ExtraBold" charset="0"/>
              <a:cs typeface="Nunito Sans" charset="0"/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16200" y="4830445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/>
          <p:nvPr/>
        </p:nvSpPr>
        <p:spPr>
          <a:xfrm>
            <a:off x="5334000" y="1304078"/>
            <a:ext cx="1524000" cy="88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8" y="16267"/>
                </a:moveTo>
                <a:cubicBezTo>
                  <a:pt x="20978" y="15467"/>
                  <a:pt x="20823" y="14933"/>
                  <a:pt x="20357" y="14933"/>
                </a:cubicBezTo>
                <a:cubicBezTo>
                  <a:pt x="20357" y="7200"/>
                  <a:pt x="20357" y="7200"/>
                  <a:pt x="20357" y="7200"/>
                </a:cubicBezTo>
                <a:cubicBezTo>
                  <a:pt x="21600" y="6400"/>
                  <a:pt x="21600" y="6400"/>
                  <a:pt x="21600" y="6400"/>
                </a:cubicBezTo>
                <a:cubicBezTo>
                  <a:pt x="10878" y="0"/>
                  <a:pt x="10878" y="0"/>
                  <a:pt x="10878" y="0"/>
                </a:cubicBezTo>
                <a:cubicBezTo>
                  <a:pt x="0" y="6400"/>
                  <a:pt x="0" y="6400"/>
                  <a:pt x="0" y="6400"/>
                </a:cubicBezTo>
                <a:cubicBezTo>
                  <a:pt x="10878" y="12800"/>
                  <a:pt x="10878" y="12800"/>
                  <a:pt x="10878" y="12800"/>
                </a:cubicBezTo>
                <a:cubicBezTo>
                  <a:pt x="19735" y="7467"/>
                  <a:pt x="19735" y="7467"/>
                  <a:pt x="19735" y="7467"/>
                </a:cubicBezTo>
                <a:cubicBezTo>
                  <a:pt x="19735" y="14933"/>
                  <a:pt x="19735" y="14933"/>
                  <a:pt x="19735" y="14933"/>
                </a:cubicBezTo>
                <a:cubicBezTo>
                  <a:pt x="19424" y="14933"/>
                  <a:pt x="19114" y="15467"/>
                  <a:pt x="19114" y="16267"/>
                </a:cubicBezTo>
                <a:cubicBezTo>
                  <a:pt x="19114" y="16800"/>
                  <a:pt x="19424" y="17067"/>
                  <a:pt x="19580" y="17067"/>
                </a:cubicBezTo>
                <a:cubicBezTo>
                  <a:pt x="19114" y="21600"/>
                  <a:pt x="19114" y="21600"/>
                  <a:pt x="19114" y="21600"/>
                </a:cubicBezTo>
                <a:cubicBezTo>
                  <a:pt x="20978" y="21600"/>
                  <a:pt x="20978" y="21600"/>
                  <a:pt x="20978" y="21600"/>
                </a:cubicBezTo>
                <a:cubicBezTo>
                  <a:pt x="20512" y="17067"/>
                  <a:pt x="20512" y="17067"/>
                  <a:pt x="20512" y="17067"/>
                </a:cubicBezTo>
                <a:cubicBezTo>
                  <a:pt x="20823" y="17067"/>
                  <a:pt x="20978" y="16800"/>
                  <a:pt x="20978" y="16267"/>
                </a:cubicBezTo>
                <a:close/>
                <a:moveTo>
                  <a:pt x="4351" y="11200"/>
                </a:moveTo>
                <a:cubicBezTo>
                  <a:pt x="4351" y="18400"/>
                  <a:pt x="4351" y="18400"/>
                  <a:pt x="4351" y="18400"/>
                </a:cubicBezTo>
                <a:cubicBezTo>
                  <a:pt x="4351" y="20267"/>
                  <a:pt x="7304" y="21600"/>
                  <a:pt x="10878" y="21600"/>
                </a:cubicBezTo>
                <a:cubicBezTo>
                  <a:pt x="14296" y="21600"/>
                  <a:pt x="17249" y="20267"/>
                  <a:pt x="17249" y="18400"/>
                </a:cubicBezTo>
                <a:cubicBezTo>
                  <a:pt x="17249" y="11200"/>
                  <a:pt x="17249" y="11200"/>
                  <a:pt x="17249" y="11200"/>
                </a:cubicBezTo>
                <a:cubicBezTo>
                  <a:pt x="10878" y="14933"/>
                  <a:pt x="10878" y="14933"/>
                  <a:pt x="10878" y="14933"/>
                </a:cubicBezTo>
                <a:lnTo>
                  <a:pt x="4351" y="112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85000"/>
            </a:schemeClr>
          </a:solidFill>
          <a:ln w="7620" cap="flat">
            <a:noFill/>
            <a:prstDash val="solid"/>
            <a:miter/>
          </a:ln>
        </p:spPr>
        <p:txBody>
          <a:bodyPr wrap="square" lIns="91439" tIns="91439" rIns="91439" bIns="91439" numCol="1" anchor="t">
            <a:noAutofit/>
          </a:bodyPr>
          <a:lstStyle/>
          <a:p>
            <a:endParaRPr>
              <a:ea typeface="Nunito Sans" charset="0"/>
              <a:cs typeface="Nunito Sans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4850130" y="5097145"/>
            <a:ext cx="2708910" cy="28321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pt-BR" altLang="en-US" sz="1400" dirty="0">
                <a:solidFill>
                  <a:schemeClr val="bg1"/>
                </a:solidFill>
                <a:latin typeface="Nunito Sans" charset="0"/>
                <a:ea typeface="Nunito Sans" charset="0"/>
                <a:cs typeface="Nunito Sans" charset="0"/>
              </a:rPr>
              <a:t>Luís Felipe Colósimo</a:t>
            </a:r>
            <a:endParaRPr lang="pt-BR" altLang="en-US" sz="1400" dirty="0">
              <a:solidFill>
                <a:schemeClr val="bg1"/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1002" y="1588436"/>
            <a:ext cx="4147954" cy="86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8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Introdução</a:t>
            </a:r>
            <a:endParaRPr lang="pt-BR" altLang="zh-CN" sz="80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Plataforma educacional focada em prática de SQL.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Aprendizado por exercícios com feedback imediato.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Integração Mobile + Backend + MySQL.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1002" y="1588436"/>
            <a:ext cx="4147954" cy="86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Objetivo</a:t>
            </a:r>
            <a:endParaRPr lang="pt-BR" altLang="zh-CN" sz="46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Auxiliar estudantes iniciantes em SQL.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Oferecer pr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tica interativa e valida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autom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tica.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Registrar evolu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do aluno ao longo do uso.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8691245" cy="8610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Motiva</a:t>
            </a:r>
            <a:r>
              <a:rPr lang="en-US" altLang="en-US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ç</a:t>
            </a:r>
            <a:r>
              <a:rPr lang="en-US" altLang="en-US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ã</a:t>
            </a:r>
            <a:r>
              <a:rPr lang="en-US" altLang="pt-BR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o / Justificativa</a:t>
            </a:r>
            <a:endParaRPr lang="en-US" altLang="pt-BR" sz="46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Estudantes costumam ter dificuldade inicial com SQL.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Falta de plataformas pr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ticas focadas em banco de dados.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Proposta baseada em aprendizado ativo.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770445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Revis</a:t>
            </a:r>
            <a:r>
              <a:rPr lang="en-US" altLang="en-US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ã</a:t>
            </a:r>
            <a:r>
              <a:rPr lang="en-US" altLang="pt-BR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o Bibliogr</a:t>
            </a:r>
            <a:r>
              <a:rPr lang="en-US" altLang="en-US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á</a:t>
            </a:r>
            <a:r>
              <a:rPr lang="en-US" altLang="pt-BR" sz="46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fica</a:t>
            </a:r>
            <a:endParaRPr lang="en-US" altLang="pt-BR" sz="46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Banco de Dados Relacional e SQL.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Aprendizagem baseada em pr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tica.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Arquitetura cliente-servidor e mobile.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4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Modelagem do Banco de Dados</a:t>
            </a:r>
            <a:endParaRPr lang="en-US" altLang="pt-BR" sz="40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Entidades principais: usu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rio, pergunta, tema.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Tabelas auxiliares: alternativas, blocos, coment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rios.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Hist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ó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rico de respostas para an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lise de desempenho.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4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Implementa</a:t>
            </a:r>
            <a:r>
              <a:rPr lang="en-US" altLang="en-US" sz="4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ç</a:t>
            </a:r>
            <a:r>
              <a:rPr lang="en-US" altLang="en-US" sz="4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ã</a:t>
            </a:r>
            <a:r>
              <a:rPr lang="en-US" altLang="pt-BR" sz="40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o do Banco</a:t>
            </a:r>
            <a:endParaRPr lang="en-US" altLang="pt-BR" sz="40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MySQL com modelo normalizado.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Relacionamentos entre temas e perguntas.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Integridade com ON DELETE CASCADE.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Desenvolvimento do Backend (NestJS)</a:t>
            </a:r>
            <a:endParaRPr lang="en-US" altLang="pt-BR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API modular estruturada em servi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os e reposit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ó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rios.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Rotas para usu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rios, perguntas, blocos e hist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ó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rico.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Integra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com MySQL via TypeORM.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Desenvolvimento Mobile (React Native)</a:t>
            </a:r>
            <a:endParaRPr lang="en-US" altLang="pt-BR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Aplicativo criado com Expo.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Telas: Login, Temas, Perguntas, Blocos, Resultado.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Consumo da API via Axios.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Resultados e An</a:t>
            </a:r>
            <a:r>
              <a:rPr lang="en-US" altLang="en-US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á</a:t>
            </a:r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lise</a:t>
            </a:r>
            <a:endParaRPr lang="en-US" altLang="pt-BR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Sistema funcional e est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vel.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Feedback imediato aos alunos.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Hist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ó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rico e score revelam evolu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do aprendizado.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Conclus</a:t>
            </a:r>
            <a:r>
              <a:rPr lang="en-US" altLang="en-US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ã</a:t>
            </a:r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o</a:t>
            </a:r>
            <a:endParaRPr lang="en-US" altLang="pt-BR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Sistema eficaz no refor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de SQL.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Facilita aprendizado pr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tico e cont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í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nuo.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Possibilidades de expans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futura.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Dificuldades e Aplica</a:t>
            </a:r>
            <a:r>
              <a:rPr lang="en-US" altLang="en-US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çõ</a:t>
            </a:r>
            <a:r>
              <a:rPr lang="en-US" altLang="pt-BR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es</a:t>
            </a:r>
            <a:endParaRPr lang="en-US" altLang="pt-BR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255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Desafios: modelagem e integra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ç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ã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o mobile-backend.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Aplic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vel a cursos, treinamentos e empresas.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Ferramenta escal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á</a:t>
            </a:r>
            <a:r>
              <a:rPr lang="en-US" alt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vel para ensino de SQL</a:t>
            </a:r>
            <a:endParaRPr lang="en-US" altLang="pt-BR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1701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altLang="en-US" sz="54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Proximos Passos</a:t>
            </a:r>
            <a:endParaRPr lang="pt-BR" altLang="en-US" sz="54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88135"/>
            <a:ext cx="9421495" cy="861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en-US" sz="3200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Nunito Sans" charset="0"/>
                <a:cs typeface="Times New Roman" panose="02020603050405020304" charset="0"/>
              </a:rPr>
              <a:t>Link Para o Projeto</a:t>
            </a:r>
            <a:endParaRPr lang="pt-BR" altLang="en-US" sz="3200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Nunito Sans" charset="0"/>
              <a:cs typeface="Times New Roman" panose="020206030504050203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683510"/>
            <a:ext cx="8622665" cy="904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+mn-ea"/>
              </a:rPr>
              <a:t>https://github.com/luisfelipecolosimo/TCC-Unicamp_SEIPEBD</a:t>
            </a:r>
            <a:endParaRPr lang="en-US" alt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17" name="矩形 1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19" name="图片 1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438400" y="-2216150"/>
            <a:ext cx="6845300" cy="117221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787400" y="72390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26714" y="2555069"/>
            <a:ext cx="13385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altLang="zh-CN" sz="60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 Sans ExtraBold" charset="0"/>
                <a:ea typeface="Nunito Sans ExtraBold" charset="0"/>
                <a:cs typeface="Nunito Sans" charset="0"/>
              </a:rPr>
              <a:t>Fim</a:t>
            </a:r>
            <a:endParaRPr lang="pt-BR" altLang="zh-CN" sz="6000" spc="-300" dirty="0">
              <a:solidFill>
                <a:schemeClr val="tx1">
                  <a:lumMod val="50000"/>
                  <a:lumOff val="50000"/>
                </a:schemeClr>
              </a:solidFill>
              <a:latin typeface="Nunito Sans ExtraBold" charset="0"/>
              <a:ea typeface="Nunito Sans ExtraBold" charset="0"/>
              <a:cs typeface="Nunito Sans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16200" y="3657600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234471" y="3929307"/>
            <a:ext cx="78366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zh-CN" sz="5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Agradeço a atenção</a:t>
            </a:r>
            <a:endParaRPr lang="pt-BR" altLang="zh-CN" sz="54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3" name="Freeform 5"/>
          <p:cNvSpPr/>
          <p:nvPr/>
        </p:nvSpPr>
        <p:spPr>
          <a:xfrm>
            <a:off x="5334000" y="1304078"/>
            <a:ext cx="1524000" cy="88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8" y="16267"/>
                </a:moveTo>
                <a:cubicBezTo>
                  <a:pt x="20978" y="15467"/>
                  <a:pt x="20823" y="14933"/>
                  <a:pt x="20357" y="14933"/>
                </a:cubicBezTo>
                <a:cubicBezTo>
                  <a:pt x="20357" y="7200"/>
                  <a:pt x="20357" y="7200"/>
                  <a:pt x="20357" y="7200"/>
                </a:cubicBezTo>
                <a:cubicBezTo>
                  <a:pt x="21600" y="6400"/>
                  <a:pt x="21600" y="6400"/>
                  <a:pt x="21600" y="6400"/>
                </a:cubicBezTo>
                <a:cubicBezTo>
                  <a:pt x="10878" y="0"/>
                  <a:pt x="10878" y="0"/>
                  <a:pt x="10878" y="0"/>
                </a:cubicBezTo>
                <a:cubicBezTo>
                  <a:pt x="0" y="6400"/>
                  <a:pt x="0" y="6400"/>
                  <a:pt x="0" y="6400"/>
                </a:cubicBezTo>
                <a:cubicBezTo>
                  <a:pt x="10878" y="12800"/>
                  <a:pt x="10878" y="12800"/>
                  <a:pt x="10878" y="12800"/>
                </a:cubicBezTo>
                <a:cubicBezTo>
                  <a:pt x="19735" y="7467"/>
                  <a:pt x="19735" y="7467"/>
                  <a:pt x="19735" y="7467"/>
                </a:cubicBezTo>
                <a:cubicBezTo>
                  <a:pt x="19735" y="14933"/>
                  <a:pt x="19735" y="14933"/>
                  <a:pt x="19735" y="14933"/>
                </a:cubicBezTo>
                <a:cubicBezTo>
                  <a:pt x="19424" y="14933"/>
                  <a:pt x="19114" y="15467"/>
                  <a:pt x="19114" y="16267"/>
                </a:cubicBezTo>
                <a:cubicBezTo>
                  <a:pt x="19114" y="16800"/>
                  <a:pt x="19424" y="17067"/>
                  <a:pt x="19580" y="17067"/>
                </a:cubicBezTo>
                <a:cubicBezTo>
                  <a:pt x="19114" y="21600"/>
                  <a:pt x="19114" y="21600"/>
                  <a:pt x="19114" y="21600"/>
                </a:cubicBezTo>
                <a:cubicBezTo>
                  <a:pt x="20978" y="21600"/>
                  <a:pt x="20978" y="21600"/>
                  <a:pt x="20978" y="21600"/>
                </a:cubicBezTo>
                <a:cubicBezTo>
                  <a:pt x="20512" y="17067"/>
                  <a:pt x="20512" y="17067"/>
                  <a:pt x="20512" y="17067"/>
                </a:cubicBezTo>
                <a:cubicBezTo>
                  <a:pt x="20823" y="17067"/>
                  <a:pt x="20978" y="16800"/>
                  <a:pt x="20978" y="16267"/>
                </a:cubicBezTo>
                <a:close/>
                <a:moveTo>
                  <a:pt x="4351" y="11200"/>
                </a:moveTo>
                <a:cubicBezTo>
                  <a:pt x="4351" y="18400"/>
                  <a:pt x="4351" y="18400"/>
                  <a:pt x="4351" y="18400"/>
                </a:cubicBezTo>
                <a:cubicBezTo>
                  <a:pt x="4351" y="20267"/>
                  <a:pt x="7304" y="21600"/>
                  <a:pt x="10878" y="21600"/>
                </a:cubicBezTo>
                <a:cubicBezTo>
                  <a:pt x="14296" y="21600"/>
                  <a:pt x="17249" y="20267"/>
                  <a:pt x="17249" y="18400"/>
                </a:cubicBezTo>
                <a:cubicBezTo>
                  <a:pt x="17249" y="11200"/>
                  <a:pt x="17249" y="11200"/>
                  <a:pt x="17249" y="11200"/>
                </a:cubicBezTo>
                <a:cubicBezTo>
                  <a:pt x="10878" y="14933"/>
                  <a:pt x="10878" y="14933"/>
                  <a:pt x="10878" y="14933"/>
                </a:cubicBezTo>
                <a:lnTo>
                  <a:pt x="4351" y="112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85000"/>
            </a:schemeClr>
          </a:solidFill>
          <a:ln w="7620" cap="flat">
            <a:noFill/>
            <a:prstDash val="solid"/>
            <a:miter/>
          </a:ln>
        </p:spPr>
        <p:txBody>
          <a:bodyPr wrap="square" lIns="91439" tIns="91439" rIns="91439" bIns="91439" numCol="1" anchor="t">
            <a:noAutofit/>
          </a:bodyPr>
          <a:lstStyle/>
          <a:p>
            <a:endParaRPr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17" name="矩形 1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PLACING_PICTURE_USER_VIEWPORT" val="{&quot;height&quot;:1599.4692913385827,&quot;width&quot;:4895.343307086614}"/>
</p:tagLst>
</file>

<file path=ppt/tags/tag2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3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4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5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6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7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8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9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0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1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2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3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4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15.xml><?xml version="1.0" encoding="utf-8"?>
<p:tagLst xmlns:p="http://schemas.openxmlformats.org/presentationml/2006/main">
  <p:tag name="KSO_WPP_MARK_KEY" val="19439bb6-c017-49bb-acea-dd3dfbf8be85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 ExtraBold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1788</Words>
  <Application>WPS Presentation</Application>
  <PresentationFormat>宽屏</PresentationFormat>
  <Paragraphs>82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Nunito Sans</vt:lpstr>
      <vt:lpstr>Nunito Sans Light</vt:lpstr>
      <vt:lpstr>Nunito Sans ExtraBold</vt:lpstr>
      <vt:lpstr>Times New Roman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 strator</dc:creator>
  <cp:lastModifiedBy>Luis</cp:lastModifiedBy>
  <cp:revision>25</cp:revision>
  <dcterms:created xsi:type="dcterms:W3CDTF">2020-05-07T17:08:00Z</dcterms:created>
  <dcterms:modified xsi:type="dcterms:W3CDTF">2025-11-29T18:17:57Z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1CC6B8D4A38A4E4AA710385B38AFD92D_13</vt:lpwstr>
  </property>
  <property fmtid="{D5CDD505-2E9C-101B-9397-08002B2CF9AE}" pid="3" name="KSOProductBuildVer">
    <vt:lpwstr>1046-12.2.0.23155</vt:lpwstr>
  </property>
</Properties>
</file>